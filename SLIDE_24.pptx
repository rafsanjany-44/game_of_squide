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653" r:id="rId3"/>
    <p:sldId id="655" r:id="rId4"/>
    <p:sldId id="656" r:id="rId5"/>
    <p:sldId id="658" r:id="rId6"/>
    <p:sldId id="660" r:id="rId7"/>
    <p:sldId id="659" r:id="rId8"/>
    <p:sldId id="661" r:id="rId9"/>
    <p:sldId id="625" r:id="rId10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  <a:srgbClr val="FF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47" autoAdjust="0"/>
  </p:normalViewPr>
  <p:slideViewPr>
    <p:cSldViewPr>
      <p:cViewPr varScale="1">
        <p:scale>
          <a:sx n="81" d="100"/>
          <a:sy n="81" d="100"/>
        </p:scale>
        <p:origin x="60" y="174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11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279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37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112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35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58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038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02384" y="3357438"/>
            <a:ext cx="56886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721019" y="1692399"/>
            <a:ext cx="925136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A Cross-Modal ECG–SQUID MCG Representation Learning Framework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86997" y="7158696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What is SQUID Magnetocardiography (MCG)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9DB49-C6F4-46E1-AED7-9F0C551C557C}"/>
              </a:ext>
            </a:extLst>
          </p:cNvPr>
          <p:cNvSpPr txBox="1"/>
          <p:nvPr/>
        </p:nvSpPr>
        <p:spPr>
          <a:xfrm>
            <a:off x="164344" y="1116335"/>
            <a:ext cx="92890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Consolas" panose="020B0609020204030204" pitchFamily="49" charset="0"/>
              </a:rPr>
              <a:t>MCG = Magnetic ECG measured using SQUID devices</a:t>
            </a:r>
          </a:p>
          <a:p>
            <a:endParaRPr lang="en-US" sz="1800" b="1" dirty="0"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 SQUID = </a:t>
            </a:r>
            <a:r>
              <a:rPr lang="en-US" sz="1400" b="1" dirty="0">
                <a:latin typeface="Consolas" panose="020B0609020204030204" pitchFamily="49" charset="0"/>
              </a:rPr>
              <a:t>Superconducting Quantum Interference Device</a:t>
            </a:r>
            <a:endParaRPr lang="en-US" sz="1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 Most sensitive magnetic sensor in the world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 Detects magnetic fields produced by the heart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 Unlike ECG, magnetic fields </a:t>
            </a:r>
            <a:r>
              <a:rPr lang="en-US" sz="1400" b="1" dirty="0">
                <a:latin typeface="Consolas" panose="020B0609020204030204" pitchFamily="49" charset="0"/>
              </a:rPr>
              <a:t>aren’t distorted</a:t>
            </a:r>
            <a:r>
              <a:rPr lang="en-US" sz="1400" dirty="0">
                <a:latin typeface="Consolas" panose="020B0609020204030204" pitchFamily="49" charset="0"/>
              </a:rPr>
              <a:t> by body tissues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 Can reveal cardiac abnormalities that ECG may miss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 Used today mainly in research centers (rare &amp; expensive)</a:t>
            </a:r>
          </a:p>
          <a:p>
            <a:endParaRPr lang="en-US" sz="1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81EF98-C079-68CE-6A84-46191F530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380" y="3635144"/>
            <a:ext cx="4434207" cy="296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E6A2B5-883D-204D-B34C-5ADF678BF60A}"/>
              </a:ext>
            </a:extLst>
          </p:cNvPr>
          <p:cNvSpPr txBox="1"/>
          <p:nvPr/>
        </p:nvSpPr>
        <p:spPr>
          <a:xfrm>
            <a:off x="75455" y="6881697"/>
            <a:ext cx="92890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 i="1" dirty="0" err="1">
                <a:effectLst/>
                <a:latin typeface="Consolas" panose="020B0609020204030204" pitchFamily="49" charset="0"/>
              </a:rPr>
              <a:t>Fenici</a:t>
            </a:r>
            <a:r>
              <a:rPr lang="en-US" sz="1000" b="1" i="1" dirty="0">
                <a:effectLst/>
                <a:latin typeface="Consolas" panose="020B0609020204030204" pitchFamily="49" charset="0"/>
              </a:rPr>
              <a:t> et al., European Heart Journal,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 i="1" dirty="0">
                <a:effectLst/>
                <a:latin typeface="Consolas" panose="020B0609020204030204" pitchFamily="49" charset="0"/>
              </a:rPr>
              <a:t>Park et al., Sensors,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 i="1" dirty="0">
                <a:effectLst/>
                <a:latin typeface="Consolas" panose="020B0609020204030204" pitchFamily="49" charset="0"/>
              </a:rPr>
              <a:t>Koch et al., Biomedical Engineering Online, 2011</a:t>
            </a:r>
            <a:endParaRPr lang="en-US" sz="1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37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86997" y="7158696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Why MCG matters (Clinical motivation)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9DB49-C6F4-46E1-AED7-9F0C551C557C}"/>
              </a:ext>
            </a:extLst>
          </p:cNvPr>
          <p:cNvSpPr txBox="1"/>
          <p:nvPr/>
        </p:nvSpPr>
        <p:spPr>
          <a:xfrm>
            <a:off x="127255" y="1116335"/>
            <a:ext cx="928903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Consolas" panose="020B0609020204030204" pitchFamily="49" charset="0"/>
              </a:rPr>
              <a:t>MCG can detect: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Ischemia earlier than ECG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Conduction abnormalities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Fetal arrhythmias (when ECG is unreliable)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Subtle repolarization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Spatial current distribution of the heart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Almost no hospitals use MCG — devices are rare, expensive, and datasets are tiny.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This makes AI or deep-learning on MCG nearly impossible.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A3276-0765-1061-4FAE-368E1FE5A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404" y="4021998"/>
            <a:ext cx="4867115" cy="242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8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86997" y="7158696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The Current Gap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9DB49-C6F4-46E1-AED7-9F0C551C557C}"/>
              </a:ext>
            </a:extLst>
          </p:cNvPr>
          <p:cNvSpPr txBox="1"/>
          <p:nvPr/>
        </p:nvSpPr>
        <p:spPr>
          <a:xfrm>
            <a:off x="127254" y="1116335"/>
            <a:ext cx="1037564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Gap 1 </a:t>
            </a:r>
            <a:r>
              <a:rPr lang="en-US" sz="1800" b="1" dirty="0">
                <a:effectLst/>
                <a:latin typeface="Consolas" panose="020B0609020204030204" pitchFamily="49" charset="0"/>
              </a:rPr>
              <a:t>— MCG Technology Is Underutilized in Clinical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SQUID-MCG can detect ischemia, fetal arrhythmia, and subtle conduction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But MCG is rare, expensive(</a:t>
            </a:r>
            <a:r>
              <a:rPr lang="en-US" sz="1400" b="1" i="1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cost $1M+</a:t>
            </a:r>
            <a:r>
              <a:rPr lang="en-US" sz="1400" dirty="0">
                <a:effectLst/>
                <a:latin typeface="Consolas" panose="020B0609020204030204" pitchFamily="49" charset="0"/>
              </a:rPr>
              <a:t>), and only available in research centers</a:t>
            </a:r>
          </a:p>
          <a:p>
            <a:endParaRPr lang="en-US" sz="1400" b="1" dirty="0">
              <a:effectLst/>
              <a:latin typeface="Consolas" panose="020B0609020204030204" pitchFamily="49" charset="0"/>
            </a:endParaRPr>
          </a:p>
          <a:p>
            <a:endParaRPr lang="en-US" sz="1400" b="1" dirty="0">
              <a:effectLst/>
              <a:latin typeface="Consolas" panose="020B0609020204030204" pitchFamily="49" charset="0"/>
            </a:endParaRPr>
          </a:p>
          <a:p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Gap 2 </a:t>
            </a:r>
            <a:r>
              <a:rPr lang="en-US" sz="1800" b="1" dirty="0">
                <a:effectLst/>
                <a:latin typeface="Consolas" panose="020B0609020204030204" pitchFamily="49" charset="0"/>
              </a:rPr>
              <a:t>— ECG Alone Cannot Capture Everything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ECG signals get distorted by tissue, muscle, fat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MCG is cleaner, but too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Clinicians lack a unified view combining both modalities</a:t>
            </a:r>
          </a:p>
          <a:p>
            <a:endParaRPr lang="en-US" sz="1400" dirty="0">
              <a:effectLst/>
              <a:latin typeface="Consolas" panose="020B0609020204030204" pitchFamily="49" charset="0"/>
            </a:endParaRPr>
          </a:p>
          <a:p>
            <a:endParaRPr lang="en-US" sz="1400" dirty="0">
              <a:effectLst/>
              <a:latin typeface="Consolas" panose="020B0609020204030204" pitchFamily="49" charset="0"/>
            </a:endParaRPr>
          </a:p>
          <a:p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Gap 3 </a:t>
            </a:r>
            <a:r>
              <a:rPr lang="en-US" sz="1800" b="1" dirty="0">
                <a:effectLst/>
                <a:latin typeface="Consolas" panose="020B0609020204030204" pitchFamily="49" charset="0"/>
              </a:rPr>
              <a:t>— There Are Almost No MCG Datasets for AI</a:t>
            </a:r>
            <a:endParaRPr lang="en-US" sz="1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Only one open-access dataset contains real SQUID-MCG: Koch et al. (2011)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It is extremely small (127 beats)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Makes modern AI training impossible without new methods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Gap 4 </a:t>
            </a:r>
            <a:r>
              <a:rPr lang="en-US" sz="1800" b="1" dirty="0">
                <a:effectLst/>
                <a:latin typeface="Consolas" panose="020B0609020204030204" pitchFamily="49" charset="0"/>
              </a:rPr>
              <a:t>— No way to help hospitals without SQUID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If we could use ECG to approximate MCG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Many hospitals could benefit from MCG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But no such system exists today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Probable Solution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We need a way to learn MCG representations without needing thousands of MCG recordings.</a:t>
            </a:r>
          </a:p>
        </p:txBody>
      </p:sp>
    </p:spTree>
    <p:extLst>
      <p:ext uri="{BB962C8B-B14F-4D97-AF65-F5344CB8AC3E}">
        <p14:creationId xmlns:p14="http://schemas.microsoft.com/office/powerpoint/2010/main" val="2283926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86997" y="7158696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Core Research Idea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9DB49-C6F4-46E1-AED7-9F0C551C557C}"/>
              </a:ext>
            </a:extLst>
          </p:cNvPr>
          <p:cNvSpPr txBox="1"/>
          <p:nvPr/>
        </p:nvSpPr>
        <p:spPr>
          <a:xfrm>
            <a:off x="127254" y="1116335"/>
            <a:ext cx="1037564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Consolas" panose="020B0609020204030204" pitchFamily="49" charset="0"/>
              </a:rPr>
              <a:t>ECG and MCG measure the same heart activity, but each sees a DIFFERENT part of </a:t>
            </a:r>
          </a:p>
          <a:p>
            <a:r>
              <a:rPr lang="en-US" sz="1600" b="1" dirty="0">
                <a:effectLst/>
                <a:latin typeface="Consolas" panose="020B0609020204030204" pitchFamily="49" charset="0"/>
              </a:rPr>
              <a:t>the truth.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ECG beat → vector (electrical potential ON the skin)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MCG beat → vector (magnetic field generated by the SAME currents INSIDE the heart)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Both vectors are close if they come from the same heartbeat.</a:t>
            </a:r>
          </a:p>
          <a:p>
            <a:endParaRPr lang="en-US" sz="1400" b="1" dirty="0">
              <a:effectLst/>
              <a:latin typeface="Consolas" panose="020B0609020204030204" pitchFamily="49" charset="0"/>
            </a:endParaRPr>
          </a:p>
          <a:p>
            <a:r>
              <a:rPr lang="en-US" sz="1800" b="1" dirty="0">
                <a:latin typeface="Consolas" panose="020B0609020204030204" pitchFamily="49" charset="0"/>
              </a:rPr>
              <a:t>Simple Word: 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ECG and MCG are like two cameras taking a picture of the same object from different angles.</a:t>
            </a:r>
          </a:p>
          <a:p>
            <a:endParaRPr lang="en-US" sz="1800" b="1" dirty="0">
              <a:latin typeface="Consolas" panose="020B0609020204030204" pitchFamily="49" charset="0"/>
            </a:endParaRP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→ Both capture the heartbeat.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→ Both look at the same depolarization/repolarization.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→ Both detect conduction abnormalities.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BUT they see different distortions and different hidden details.</a:t>
            </a:r>
          </a:p>
          <a:p>
            <a:endParaRPr lang="en-US" sz="1400" dirty="0">
              <a:effectLst/>
              <a:latin typeface="Consolas" panose="020B0609020204030204" pitchFamily="49" charset="0"/>
            </a:endParaRPr>
          </a:p>
          <a:p>
            <a:endParaRPr lang="en-US" sz="1400" dirty="0"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B7405"/>
                </a:solidFill>
                <a:effectLst/>
                <a:latin typeface="Consolas" panose="020B0609020204030204" pitchFamily="49" charset="0"/>
              </a:rPr>
              <a:t>ECG → foundational cardiac patterns</a:t>
            </a:r>
          </a:p>
          <a:p>
            <a:r>
              <a:rPr lang="en-US" sz="1400" b="1" dirty="0">
                <a:solidFill>
                  <a:srgbClr val="FB7405"/>
                </a:solidFill>
                <a:effectLst/>
                <a:latin typeface="Consolas" panose="020B0609020204030204" pitchFamily="49" charset="0"/>
              </a:rPr>
              <a:t>MCG → rare, high-value complementary info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Core Research Idea</a:t>
            </a:r>
          </a:p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This study proposed: A model connects electrical and magnetic views of the same heartbeat to provide a more complete cardiac understanding.</a:t>
            </a:r>
          </a:p>
          <a:p>
            <a:endParaRPr lang="en-US" sz="14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The input to the trained model can be either an ECG alone, an MCG alone, or both — because the model </a:t>
            </a:r>
          </a:p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learns a shared representation for both modalities.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A shared latent heartbeat representation for </a:t>
            </a:r>
          </a:p>
          <a:p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clinical use.</a:t>
            </a:r>
          </a:p>
        </p:txBody>
      </p:sp>
    </p:spTree>
    <p:extLst>
      <p:ext uri="{BB962C8B-B14F-4D97-AF65-F5344CB8AC3E}">
        <p14:creationId xmlns:p14="http://schemas.microsoft.com/office/powerpoint/2010/main" val="337855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86997" y="7158696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chemeClr val="accent6"/>
                </a:solidFill>
                <a:latin typeface="Caladea"/>
                <a:ea typeface="HY견고딕" pitchFamily="18" charset="-127"/>
              </a:rPr>
              <a:t>Dataset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9DB49-C6F4-46E1-AED7-9F0C551C557C}"/>
              </a:ext>
            </a:extLst>
          </p:cNvPr>
          <p:cNvSpPr txBox="1"/>
          <p:nvPr/>
        </p:nvSpPr>
        <p:spPr>
          <a:xfrm>
            <a:off x="127254" y="1116335"/>
            <a:ext cx="1037564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Consolas" panose="020B0609020204030204" pitchFamily="49" charset="0"/>
              </a:rPr>
              <a:t>PTB Diagnostic ECG Dataset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Source: PhysioNet / PTB Diagnostic ECG Database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Signals: 12-lead ECG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Sampling Rate: 1000 Hz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Subjects: 290+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Conditions: Myocardial infarction, arrhythmia, block, hypertrophy, healthy controls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Size: Thousands of heartbeats (large dataset)</a:t>
            </a:r>
          </a:p>
          <a:p>
            <a:endParaRPr lang="en-US" sz="1400" b="1" dirty="0"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effectLst/>
                <a:latin typeface="Consolas" panose="020B0609020204030204" pitchFamily="49" charset="0"/>
              </a:rPr>
              <a:t>PTB gives us a strong, robust ECG understanding before we try to align ECG with MCG.</a:t>
            </a:r>
          </a:p>
          <a:p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C05CC-F413-9DF3-93DC-EF9A93C06D08}"/>
              </a:ext>
            </a:extLst>
          </p:cNvPr>
          <p:cNvSpPr txBox="1"/>
          <p:nvPr/>
        </p:nvSpPr>
        <p:spPr>
          <a:xfrm>
            <a:off x="190500" y="4014405"/>
            <a:ext cx="888464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Koch ECG–MCG (SQUID) Paired Dataset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Source: Koch et al., Biomedical Engineering Online (2011)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Modalities: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BSPM (Body Surface Potential Mapping) → electrical activity</a:t>
            </a:r>
          </a:p>
          <a:p>
            <a:pPr marL="227713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32 channels</a:t>
            </a:r>
          </a:p>
          <a:p>
            <a:pPr marL="227713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1000 Hz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MCG (Magnetocardiography) using SQUID</a:t>
            </a:r>
          </a:p>
          <a:p>
            <a:pPr marL="227713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100 channels</a:t>
            </a:r>
          </a:p>
          <a:p>
            <a:pPr marL="227713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1000 Hz</a:t>
            </a:r>
          </a:p>
          <a:p>
            <a:pPr marL="227713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Femto-Tesla units (</a:t>
            </a:r>
            <a:r>
              <a:rPr lang="en-US" sz="1400" dirty="0" err="1">
                <a:latin typeface="Consolas" panose="020B0609020204030204" pitchFamily="49" charset="0"/>
              </a:rPr>
              <a:t>fT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MRI torso scans</a:t>
            </a:r>
          </a:p>
        </p:txBody>
      </p:sp>
    </p:spTree>
    <p:extLst>
      <p:ext uri="{BB962C8B-B14F-4D97-AF65-F5344CB8AC3E}">
        <p14:creationId xmlns:p14="http://schemas.microsoft.com/office/powerpoint/2010/main" val="302265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6DF1C86-8335-4B3A-143C-78ED6E500F6D}"/>
              </a:ext>
            </a:extLst>
          </p:cNvPr>
          <p:cNvSpPr/>
          <p:nvPr/>
        </p:nvSpPr>
        <p:spPr>
          <a:xfrm>
            <a:off x="190500" y="3380585"/>
            <a:ext cx="1586809" cy="2704302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INPUT</a:t>
            </a:r>
          </a:p>
          <a:p>
            <a:pPr algn="ctr"/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94CD2E-ED7D-1DA7-90CB-2296AD1B159D}"/>
              </a:ext>
            </a:extLst>
          </p:cNvPr>
          <p:cNvSpPr/>
          <p:nvPr/>
        </p:nvSpPr>
        <p:spPr>
          <a:xfrm>
            <a:off x="5227857" y="4788743"/>
            <a:ext cx="2495107" cy="115212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86997" y="7158696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Methodology Overview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12A67-7B77-A2D0-0617-867AB1D4F0A5}"/>
              </a:ext>
            </a:extLst>
          </p:cNvPr>
          <p:cNvSpPr txBox="1"/>
          <p:nvPr/>
        </p:nvSpPr>
        <p:spPr>
          <a:xfrm>
            <a:off x="162124" y="1010705"/>
            <a:ext cx="1037564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Consolas" panose="020B0609020204030204" pitchFamily="49" charset="0"/>
              </a:rPr>
              <a:t>Stage 1 — Learn ECG features from a large dataset (PTB Diagnostic ECG)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Self-supervised learning (no labels needed)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Model learns patterns of electrical activity</a:t>
            </a:r>
          </a:p>
          <a:p>
            <a:endParaRPr lang="en-US" sz="1400" b="1" dirty="0">
              <a:effectLst/>
              <a:latin typeface="Consolas" panose="020B0609020204030204" pitchFamily="49" charset="0"/>
            </a:endParaRPr>
          </a:p>
          <a:p>
            <a:r>
              <a:rPr lang="en-US" sz="1600" b="1" dirty="0">
                <a:effectLst/>
                <a:latin typeface="Consolas" panose="020B0609020204030204" pitchFamily="49" charset="0"/>
              </a:rPr>
              <a:t>Stage 2 — Align ECG with MCG using paired data (Koch dataset)</a:t>
            </a:r>
            <a:endParaRPr lang="en-US" sz="16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For each heartbeat: ECG signal </a:t>
            </a:r>
            <a:r>
              <a:rPr lang="en-US" sz="1600" b="1" dirty="0">
                <a:effectLst/>
                <a:latin typeface="Consolas" panose="020B0609020204030204" pitchFamily="49" charset="0"/>
              </a:rPr>
              <a:t>↔</a:t>
            </a:r>
            <a:r>
              <a:rPr lang="en-US" sz="1400" dirty="0">
                <a:effectLst/>
                <a:latin typeface="Consolas" panose="020B0609020204030204" pitchFamily="49" charset="0"/>
              </a:rPr>
              <a:t> MCG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Use contrastive learning to match them in a shared space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Stage 3 — Align ECG with MCG using paired data (Koch dataset)</a:t>
            </a:r>
          </a:p>
          <a:p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46F541-4DBA-B70F-81EA-4041F0989EBF}"/>
              </a:ext>
            </a:extLst>
          </p:cNvPr>
          <p:cNvSpPr/>
          <p:nvPr/>
        </p:nvSpPr>
        <p:spPr>
          <a:xfrm>
            <a:off x="384551" y="3492599"/>
            <a:ext cx="1145725" cy="576064"/>
          </a:xfrm>
          <a:custGeom>
            <a:avLst/>
            <a:gdLst>
              <a:gd name="connsiteX0" fmla="*/ 0 w 1145725"/>
              <a:gd name="connsiteY0" fmla="*/ 0 h 576064"/>
              <a:gd name="connsiteX1" fmla="*/ 572863 w 1145725"/>
              <a:gd name="connsiteY1" fmla="*/ 0 h 576064"/>
              <a:gd name="connsiteX2" fmla="*/ 1145725 w 1145725"/>
              <a:gd name="connsiteY2" fmla="*/ 0 h 576064"/>
              <a:gd name="connsiteX3" fmla="*/ 1145725 w 1145725"/>
              <a:gd name="connsiteY3" fmla="*/ 576064 h 576064"/>
              <a:gd name="connsiteX4" fmla="*/ 561405 w 1145725"/>
              <a:gd name="connsiteY4" fmla="*/ 576064 h 576064"/>
              <a:gd name="connsiteX5" fmla="*/ 0 w 1145725"/>
              <a:gd name="connsiteY5" fmla="*/ 576064 h 576064"/>
              <a:gd name="connsiteX6" fmla="*/ 0 w 1145725"/>
              <a:gd name="connsiteY6" fmla="*/ 0 h 576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5725" h="576064" fill="none" extrusionOk="0">
                <a:moveTo>
                  <a:pt x="0" y="0"/>
                </a:moveTo>
                <a:cubicBezTo>
                  <a:pt x="179331" y="-27596"/>
                  <a:pt x="386645" y="48220"/>
                  <a:pt x="572863" y="0"/>
                </a:cubicBezTo>
                <a:cubicBezTo>
                  <a:pt x="759081" y="-48220"/>
                  <a:pt x="1004422" y="42570"/>
                  <a:pt x="1145725" y="0"/>
                </a:cubicBezTo>
                <a:cubicBezTo>
                  <a:pt x="1184085" y="239908"/>
                  <a:pt x="1122206" y="450836"/>
                  <a:pt x="1145725" y="576064"/>
                </a:cubicBezTo>
                <a:cubicBezTo>
                  <a:pt x="903109" y="579081"/>
                  <a:pt x="801460" y="518510"/>
                  <a:pt x="561405" y="576064"/>
                </a:cubicBezTo>
                <a:cubicBezTo>
                  <a:pt x="321350" y="633618"/>
                  <a:pt x="189595" y="540812"/>
                  <a:pt x="0" y="576064"/>
                </a:cubicBezTo>
                <a:cubicBezTo>
                  <a:pt x="-16762" y="430474"/>
                  <a:pt x="25073" y="276800"/>
                  <a:pt x="0" y="0"/>
                </a:cubicBezTo>
                <a:close/>
              </a:path>
              <a:path w="1145725" h="576064" stroke="0" extrusionOk="0">
                <a:moveTo>
                  <a:pt x="0" y="0"/>
                </a:moveTo>
                <a:cubicBezTo>
                  <a:pt x="269001" y="-66049"/>
                  <a:pt x="422528" y="35233"/>
                  <a:pt x="561405" y="0"/>
                </a:cubicBezTo>
                <a:cubicBezTo>
                  <a:pt x="700283" y="-35233"/>
                  <a:pt x="887352" y="50571"/>
                  <a:pt x="1145725" y="0"/>
                </a:cubicBezTo>
                <a:cubicBezTo>
                  <a:pt x="1188053" y="170821"/>
                  <a:pt x="1092270" y="288133"/>
                  <a:pt x="1145725" y="576064"/>
                </a:cubicBezTo>
                <a:cubicBezTo>
                  <a:pt x="855862" y="584364"/>
                  <a:pt x="707346" y="507885"/>
                  <a:pt x="561405" y="576064"/>
                </a:cubicBezTo>
                <a:cubicBezTo>
                  <a:pt x="415464" y="644243"/>
                  <a:pt x="224273" y="527888"/>
                  <a:pt x="0" y="576064"/>
                </a:cubicBezTo>
                <a:cubicBezTo>
                  <a:pt x="-16718" y="444417"/>
                  <a:pt x="64672" y="188151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PTB ECG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82DEB0-DF31-3C4B-9904-E67286E3B992}"/>
              </a:ext>
            </a:extLst>
          </p:cNvPr>
          <p:cNvSpPr/>
          <p:nvPr/>
        </p:nvSpPr>
        <p:spPr>
          <a:xfrm>
            <a:off x="328738" y="4932636"/>
            <a:ext cx="1345554" cy="360163"/>
          </a:xfrm>
          <a:custGeom>
            <a:avLst/>
            <a:gdLst>
              <a:gd name="connsiteX0" fmla="*/ 0 w 1345554"/>
              <a:gd name="connsiteY0" fmla="*/ 0 h 360163"/>
              <a:gd name="connsiteX1" fmla="*/ 421607 w 1345554"/>
              <a:gd name="connsiteY1" fmla="*/ 0 h 360163"/>
              <a:gd name="connsiteX2" fmla="*/ 883580 w 1345554"/>
              <a:gd name="connsiteY2" fmla="*/ 0 h 360163"/>
              <a:gd name="connsiteX3" fmla="*/ 1345554 w 1345554"/>
              <a:gd name="connsiteY3" fmla="*/ 0 h 360163"/>
              <a:gd name="connsiteX4" fmla="*/ 1345554 w 1345554"/>
              <a:gd name="connsiteY4" fmla="*/ 360163 h 360163"/>
              <a:gd name="connsiteX5" fmla="*/ 910492 w 1345554"/>
              <a:gd name="connsiteY5" fmla="*/ 360163 h 360163"/>
              <a:gd name="connsiteX6" fmla="*/ 488885 w 1345554"/>
              <a:gd name="connsiteY6" fmla="*/ 360163 h 360163"/>
              <a:gd name="connsiteX7" fmla="*/ 0 w 1345554"/>
              <a:gd name="connsiteY7" fmla="*/ 360163 h 360163"/>
              <a:gd name="connsiteX8" fmla="*/ 0 w 1345554"/>
              <a:gd name="connsiteY8" fmla="*/ 0 h 360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45554" h="360163" fill="none" extrusionOk="0">
                <a:moveTo>
                  <a:pt x="0" y="0"/>
                </a:moveTo>
                <a:cubicBezTo>
                  <a:pt x="133126" y="-42680"/>
                  <a:pt x="262512" y="42529"/>
                  <a:pt x="421607" y="0"/>
                </a:cubicBezTo>
                <a:cubicBezTo>
                  <a:pt x="580702" y="-42529"/>
                  <a:pt x="688928" y="17862"/>
                  <a:pt x="883580" y="0"/>
                </a:cubicBezTo>
                <a:cubicBezTo>
                  <a:pt x="1078232" y="-17862"/>
                  <a:pt x="1251181" y="30922"/>
                  <a:pt x="1345554" y="0"/>
                </a:cubicBezTo>
                <a:cubicBezTo>
                  <a:pt x="1351633" y="83869"/>
                  <a:pt x="1337333" y="238715"/>
                  <a:pt x="1345554" y="360163"/>
                </a:cubicBezTo>
                <a:cubicBezTo>
                  <a:pt x="1214361" y="365179"/>
                  <a:pt x="1084627" y="356252"/>
                  <a:pt x="910492" y="360163"/>
                </a:cubicBezTo>
                <a:cubicBezTo>
                  <a:pt x="736357" y="364074"/>
                  <a:pt x="643846" y="340719"/>
                  <a:pt x="488885" y="360163"/>
                </a:cubicBezTo>
                <a:cubicBezTo>
                  <a:pt x="333924" y="379607"/>
                  <a:pt x="210561" y="310796"/>
                  <a:pt x="0" y="360163"/>
                </a:cubicBezTo>
                <a:cubicBezTo>
                  <a:pt x="-33052" y="244726"/>
                  <a:pt x="13391" y="148036"/>
                  <a:pt x="0" y="0"/>
                </a:cubicBezTo>
                <a:close/>
              </a:path>
              <a:path w="1345554" h="360163" stroke="0" extrusionOk="0">
                <a:moveTo>
                  <a:pt x="0" y="0"/>
                </a:moveTo>
                <a:cubicBezTo>
                  <a:pt x="125315" y="-27213"/>
                  <a:pt x="279355" y="28683"/>
                  <a:pt x="435062" y="0"/>
                </a:cubicBezTo>
                <a:cubicBezTo>
                  <a:pt x="590769" y="-28683"/>
                  <a:pt x="751036" y="36671"/>
                  <a:pt x="870125" y="0"/>
                </a:cubicBezTo>
                <a:cubicBezTo>
                  <a:pt x="989214" y="-36671"/>
                  <a:pt x="1140781" y="13355"/>
                  <a:pt x="1345554" y="0"/>
                </a:cubicBezTo>
                <a:cubicBezTo>
                  <a:pt x="1377652" y="126752"/>
                  <a:pt x="1332982" y="226776"/>
                  <a:pt x="1345554" y="360163"/>
                </a:cubicBezTo>
                <a:cubicBezTo>
                  <a:pt x="1178104" y="401834"/>
                  <a:pt x="1033788" y="321628"/>
                  <a:pt x="910492" y="360163"/>
                </a:cubicBezTo>
                <a:cubicBezTo>
                  <a:pt x="787196" y="398698"/>
                  <a:pt x="677095" y="307230"/>
                  <a:pt x="461974" y="360163"/>
                </a:cubicBezTo>
                <a:cubicBezTo>
                  <a:pt x="246853" y="413096"/>
                  <a:pt x="93879" y="320436"/>
                  <a:pt x="0" y="360163"/>
                </a:cubicBezTo>
                <a:cubicBezTo>
                  <a:pt x="-13864" y="200658"/>
                  <a:pt x="35527" y="80407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Koch ECG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102B56-5130-3379-DD2E-F7A0A81A1E1D}"/>
              </a:ext>
            </a:extLst>
          </p:cNvPr>
          <p:cNvSpPr/>
          <p:nvPr/>
        </p:nvSpPr>
        <p:spPr>
          <a:xfrm>
            <a:off x="304241" y="5471410"/>
            <a:ext cx="1370051" cy="360163"/>
          </a:xfrm>
          <a:custGeom>
            <a:avLst/>
            <a:gdLst>
              <a:gd name="connsiteX0" fmla="*/ 0 w 1370051"/>
              <a:gd name="connsiteY0" fmla="*/ 0 h 360163"/>
              <a:gd name="connsiteX1" fmla="*/ 429283 w 1370051"/>
              <a:gd name="connsiteY1" fmla="*/ 0 h 360163"/>
              <a:gd name="connsiteX2" fmla="*/ 899667 w 1370051"/>
              <a:gd name="connsiteY2" fmla="*/ 0 h 360163"/>
              <a:gd name="connsiteX3" fmla="*/ 1370051 w 1370051"/>
              <a:gd name="connsiteY3" fmla="*/ 0 h 360163"/>
              <a:gd name="connsiteX4" fmla="*/ 1370051 w 1370051"/>
              <a:gd name="connsiteY4" fmla="*/ 360163 h 360163"/>
              <a:gd name="connsiteX5" fmla="*/ 927068 w 1370051"/>
              <a:gd name="connsiteY5" fmla="*/ 360163 h 360163"/>
              <a:gd name="connsiteX6" fmla="*/ 497785 w 1370051"/>
              <a:gd name="connsiteY6" fmla="*/ 360163 h 360163"/>
              <a:gd name="connsiteX7" fmla="*/ 0 w 1370051"/>
              <a:gd name="connsiteY7" fmla="*/ 360163 h 360163"/>
              <a:gd name="connsiteX8" fmla="*/ 0 w 1370051"/>
              <a:gd name="connsiteY8" fmla="*/ 0 h 360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0051" h="360163" fill="none" extrusionOk="0">
                <a:moveTo>
                  <a:pt x="0" y="0"/>
                </a:moveTo>
                <a:cubicBezTo>
                  <a:pt x="95716" y="-50670"/>
                  <a:pt x="227504" y="35673"/>
                  <a:pt x="429283" y="0"/>
                </a:cubicBezTo>
                <a:cubicBezTo>
                  <a:pt x="631062" y="-35673"/>
                  <a:pt x="762741" y="17379"/>
                  <a:pt x="899667" y="0"/>
                </a:cubicBezTo>
                <a:cubicBezTo>
                  <a:pt x="1036593" y="-17379"/>
                  <a:pt x="1175756" y="30290"/>
                  <a:pt x="1370051" y="0"/>
                </a:cubicBezTo>
                <a:cubicBezTo>
                  <a:pt x="1376130" y="83869"/>
                  <a:pt x="1361830" y="238715"/>
                  <a:pt x="1370051" y="360163"/>
                </a:cubicBezTo>
                <a:cubicBezTo>
                  <a:pt x="1184284" y="389749"/>
                  <a:pt x="1126251" y="309975"/>
                  <a:pt x="927068" y="360163"/>
                </a:cubicBezTo>
                <a:cubicBezTo>
                  <a:pt x="727885" y="410351"/>
                  <a:pt x="600390" y="311629"/>
                  <a:pt x="497785" y="360163"/>
                </a:cubicBezTo>
                <a:cubicBezTo>
                  <a:pt x="395180" y="408697"/>
                  <a:pt x="100006" y="322825"/>
                  <a:pt x="0" y="360163"/>
                </a:cubicBezTo>
                <a:cubicBezTo>
                  <a:pt x="-33052" y="244726"/>
                  <a:pt x="13391" y="148036"/>
                  <a:pt x="0" y="0"/>
                </a:cubicBezTo>
                <a:close/>
              </a:path>
              <a:path w="1370051" h="360163" stroke="0" extrusionOk="0">
                <a:moveTo>
                  <a:pt x="0" y="0"/>
                </a:moveTo>
                <a:cubicBezTo>
                  <a:pt x="155531" y="-45017"/>
                  <a:pt x="290324" y="789"/>
                  <a:pt x="442983" y="0"/>
                </a:cubicBezTo>
                <a:cubicBezTo>
                  <a:pt x="595642" y="-789"/>
                  <a:pt x="714560" y="42188"/>
                  <a:pt x="885966" y="0"/>
                </a:cubicBezTo>
                <a:cubicBezTo>
                  <a:pt x="1057372" y="-42188"/>
                  <a:pt x="1226774" y="46030"/>
                  <a:pt x="1370051" y="0"/>
                </a:cubicBezTo>
                <a:cubicBezTo>
                  <a:pt x="1402149" y="126752"/>
                  <a:pt x="1357479" y="226776"/>
                  <a:pt x="1370051" y="360163"/>
                </a:cubicBezTo>
                <a:cubicBezTo>
                  <a:pt x="1152529" y="386431"/>
                  <a:pt x="1055309" y="347398"/>
                  <a:pt x="927068" y="360163"/>
                </a:cubicBezTo>
                <a:cubicBezTo>
                  <a:pt x="798827" y="372928"/>
                  <a:pt x="698233" y="327751"/>
                  <a:pt x="470384" y="360163"/>
                </a:cubicBezTo>
                <a:cubicBezTo>
                  <a:pt x="242535" y="392575"/>
                  <a:pt x="185928" y="351097"/>
                  <a:pt x="0" y="360163"/>
                </a:cubicBezTo>
                <a:cubicBezTo>
                  <a:pt x="-13864" y="200658"/>
                  <a:pt x="35527" y="80407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Koch MCG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EEC364-97F5-EC05-0675-DC0F0E6A2442}"/>
              </a:ext>
            </a:extLst>
          </p:cNvPr>
          <p:cNvSpPr/>
          <p:nvPr/>
        </p:nvSpPr>
        <p:spPr>
          <a:xfrm>
            <a:off x="2322364" y="3623569"/>
            <a:ext cx="2808312" cy="314123"/>
          </a:xfrm>
          <a:custGeom>
            <a:avLst/>
            <a:gdLst>
              <a:gd name="connsiteX0" fmla="*/ 0 w 2808312"/>
              <a:gd name="connsiteY0" fmla="*/ 0 h 314123"/>
              <a:gd name="connsiteX1" fmla="*/ 617829 w 2808312"/>
              <a:gd name="connsiteY1" fmla="*/ 0 h 314123"/>
              <a:gd name="connsiteX2" fmla="*/ 1235657 w 2808312"/>
              <a:gd name="connsiteY2" fmla="*/ 0 h 314123"/>
              <a:gd name="connsiteX3" fmla="*/ 1825403 w 2808312"/>
              <a:gd name="connsiteY3" fmla="*/ 0 h 314123"/>
              <a:gd name="connsiteX4" fmla="*/ 2302816 w 2808312"/>
              <a:gd name="connsiteY4" fmla="*/ 0 h 314123"/>
              <a:gd name="connsiteX5" fmla="*/ 2808312 w 2808312"/>
              <a:gd name="connsiteY5" fmla="*/ 0 h 314123"/>
              <a:gd name="connsiteX6" fmla="*/ 2808312 w 2808312"/>
              <a:gd name="connsiteY6" fmla="*/ 314123 h 314123"/>
              <a:gd name="connsiteX7" fmla="*/ 2330899 w 2808312"/>
              <a:gd name="connsiteY7" fmla="*/ 314123 h 314123"/>
              <a:gd name="connsiteX8" fmla="*/ 1713070 w 2808312"/>
              <a:gd name="connsiteY8" fmla="*/ 314123 h 314123"/>
              <a:gd name="connsiteX9" fmla="*/ 1095242 w 2808312"/>
              <a:gd name="connsiteY9" fmla="*/ 314123 h 314123"/>
              <a:gd name="connsiteX10" fmla="*/ 561662 w 2808312"/>
              <a:gd name="connsiteY10" fmla="*/ 314123 h 314123"/>
              <a:gd name="connsiteX11" fmla="*/ 0 w 2808312"/>
              <a:gd name="connsiteY11" fmla="*/ 314123 h 314123"/>
              <a:gd name="connsiteX12" fmla="*/ 0 w 2808312"/>
              <a:gd name="connsiteY12" fmla="*/ 0 h 31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8312" h="314123" fill="none" extrusionOk="0">
                <a:moveTo>
                  <a:pt x="0" y="0"/>
                </a:moveTo>
                <a:cubicBezTo>
                  <a:pt x="262781" y="-14129"/>
                  <a:pt x="436000" y="72759"/>
                  <a:pt x="617829" y="0"/>
                </a:cubicBezTo>
                <a:cubicBezTo>
                  <a:pt x="799658" y="-72759"/>
                  <a:pt x="1035272" y="30914"/>
                  <a:pt x="1235657" y="0"/>
                </a:cubicBezTo>
                <a:cubicBezTo>
                  <a:pt x="1436042" y="-30914"/>
                  <a:pt x="1705193" y="38983"/>
                  <a:pt x="1825403" y="0"/>
                </a:cubicBezTo>
                <a:cubicBezTo>
                  <a:pt x="1945613" y="-38983"/>
                  <a:pt x="2120358" y="25414"/>
                  <a:pt x="2302816" y="0"/>
                </a:cubicBezTo>
                <a:cubicBezTo>
                  <a:pt x="2485274" y="-25414"/>
                  <a:pt x="2707113" y="43467"/>
                  <a:pt x="2808312" y="0"/>
                </a:cubicBezTo>
                <a:cubicBezTo>
                  <a:pt x="2813623" y="65163"/>
                  <a:pt x="2786007" y="237658"/>
                  <a:pt x="2808312" y="314123"/>
                </a:cubicBezTo>
                <a:cubicBezTo>
                  <a:pt x="2626383" y="355261"/>
                  <a:pt x="2556601" y="303359"/>
                  <a:pt x="2330899" y="314123"/>
                </a:cubicBezTo>
                <a:cubicBezTo>
                  <a:pt x="2105197" y="324887"/>
                  <a:pt x="1869970" y="294302"/>
                  <a:pt x="1713070" y="314123"/>
                </a:cubicBezTo>
                <a:cubicBezTo>
                  <a:pt x="1556170" y="333944"/>
                  <a:pt x="1340695" y="288523"/>
                  <a:pt x="1095242" y="314123"/>
                </a:cubicBezTo>
                <a:cubicBezTo>
                  <a:pt x="849789" y="339723"/>
                  <a:pt x="697931" y="250770"/>
                  <a:pt x="561662" y="314123"/>
                </a:cubicBezTo>
                <a:cubicBezTo>
                  <a:pt x="425393" y="377476"/>
                  <a:pt x="186272" y="301375"/>
                  <a:pt x="0" y="314123"/>
                </a:cubicBezTo>
                <a:cubicBezTo>
                  <a:pt x="-13249" y="229568"/>
                  <a:pt x="25515" y="90623"/>
                  <a:pt x="0" y="0"/>
                </a:cubicBezTo>
                <a:close/>
              </a:path>
              <a:path w="2808312" h="314123" stroke="0" extrusionOk="0">
                <a:moveTo>
                  <a:pt x="0" y="0"/>
                </a:moveTo>
                <a:cubicBezTo>
                  <a:pt x="134386" y="-54286"/>
                  <a:pt x="378388" y="40838"/>
                  <a:pt x="533579" y="0"/>
                </a:cubicBezTo>
                <a:cubicBezTo>
                  <a:pt x="688770" y="-40838"/>
                  <a:pt x="833473" y="9147"/>
                  <a:pt x="1067159" y="0"/>
                </a:cubicBezTo>
                <a:cubicBezTo>
                  <a:pt x="1300845" y="-9147"/>
                  <a:pt x="1413464" y="30879"/>
                  <a:pt x="1572655" y="0"/>
                </a:cubicBezTo>
                <a:cubicBezTo>
                  <a:pt x="1731846" y="-30879"/>
                  <a:pt x="1962076" y="48684"/>
                  <a:pt x="2162400" y="0"/>
                </a:cubicBezTo>
                <a:cubicBezTo>
                  <a:pt x="2362725" y="-48684"/>
                  <a:pt x="2535188" y="44112"/>
                  <a:pt x="2808312" y="0"/>
                </a:cubicBezTo>
                <a:cubicBezTo>
                  <a:pt x="2839238" y="121151"/>
                  <a:pt x="2777846" y="169648"/>
                  <a:pt x="2808312" y="314123"/>
                </a:cubicBezTo>
                <a:cubicBezTo>
                  <a:pt x="2710528" y="325215"/>
                  <a:pt x="2509116" y="280127"/>
                  <a:pt x="2330899" y="314123"/>
                </a:cubicBezTo>
                <a:cubicBezTo>
                  <a:pt x="2152682" y="348119"/>
                  <a:pt x="1985353" y="287744"/>
                  <a:pt x="1797320" y="314123"/>
                </a:cubicBezTo>
                <a:cubicBezTo>
                  <a:pt x="1609287" y="340502"/>
                  <a:pt x="1411274" y="289449"/>
                  <a:pt x="1291824" y="314123"/>
                </a:cubicBezTo>
                <a:cubicBezTo>
                  <a:pt x="1172374" y="338797"/>
                  <a:pt x="973414" y="255923"/>
                  <a:pt x="702078" y="314123"/>
                </a:cubicBezTo>
                <a:cubicBezTo>
                  <a:pt x="430742" y="372323"/>
                  <a:pt x="281533" y="232278"/>
                  <a:pt x="0" y="314123"/>
                </a:cubicBezTo>
                <a:cubicBezTo>
                  <a:pt x="-4616" y="161189"/>
                  <a:pt x="30958" y="780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ECG Encoder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5EEEC1-FA90-4DBC-48D4-B93E6D10DE6F}"/>
              </a:ext>
            </a:extLst>
          </p:cNvPr>
          <p:cNvSpPr/>
          <p:nvPr/>
        </p:nvSpPr>
        <p:spPr>
          <a:xfrm>
            <a:off x="2320901" y="4955655"/>
            <a:ext cx="2495107" cy="314123"/>
          </a:xfrm>
          <a:custGeom>
            <a:avLst/>
            <a:gdLst>
              <a:gd name="connsiteX0" fmla="*/ 0 w 2495107"/>
              <a:gd name="connsiteY0" fmla="*/ 0 h 314123"/>
              <a:gd name="connsiteX1" fmla="*/ 548924 w 2495107"/>
              <a:gd name="connsiteY1" fmla="*/ 0 h 314123"/>
              <a:gd name="connsiteX2" fmla="*/ 1097847 w 2495107"/>
              <a:gd name="connsiteY2" fmla="*/ 0 h 314123"/>
              <a:gd name="connsiteX3" fmla="*/ 1621820 w 2495107"/>
              <a:gd name="connsiteY3" fmla="*/ 0 h 314123"/>
              <a:gd name="connsiteX4" fmla="*/ 2045988 w 2495107"/>
              <a:gd name="connsiteY4" fmla="*/ 0 h 314123"/>
              <a:gd name="connsiteX5" fmla="*/ 2495107 w 2495107"/>
              <a:gd name="connsiteY5" fmla="*/ 0 h 314123"/>
              <a:gd name="connsiteX6" fmla="*/ 2495107 w 2495107"/>
              <a:gd name="connsiteY6" fmla="*/ 314123 h 314123"/>
              <a:gd name="connsiteX7" fmla="*/ 2070939 w 2495107"/>
              <a:gd name="connsiteY7" fmla="*/ 314123 h 314123"/>
              <a:gd name="connsiteX8" fmla="*/ 1522015 w 2495107"/>
              <a:gd name="connsiteY8" fmla="*/ 314123 h 314123"/>
              <a:gd name="connsiteX9" fmla="*/ 973092 w 2495107"/>
              <a:gd name="connsiteY9" fmla="*/ 314123 h 314123"/>
              <a:gd name="connsiteX10" fmla="*/ 499021 w 2495107"/>
              <a:gd name="connsiteY10" fmla="*/ 314123 h 314123"/>
              <a:gd name="connsiteX11" fmla="*/ 0 w 2495107"/>
              <a:gd name="connsiteY11" fmla="*/ 314123 h 314123"/>
              <a:gd name="connsiteX12" fmla="*/ 0 w 2495107"/>
              <a:gd name="connsiteY12" fmla="*/ 0 h 31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95107" h="314123" fill="none" extrusionOk="0">
                <a:moveTo>
                  <a:pt x="0" y="0"/>
                </a:moveTo>
                <a:cubicBezTo>
                  <a:pt x="141765" y="-29987"/>
                  <a:pt x="350963" y="6740"/>
                  <a:pt x="548924" y="0"/>
                </a:cubicBezTo>
                <a:cubicBezTo>
                  <a:pt x="746885" y="-6740"/>
                  <a:pt x="922831" y="64591"/>
                  <a:pt x="1097847" y="0"/>
                </a:cubicBezTo>
                <a:cubicBezTo>
                  <a:pt x="1272863" y="-64591"/>
                  <a:pt x="1474434" y="19955"/>
                  <a:pt x="1621820" y="0"/>
                </a:cubicBezTo>
                <a:cubicBezTo>
                  <a:pt x="1769206" y="-19955"/>
                  <a:pt x="1872213" y="4777"/>
                  <a:pt x="2045988" y="0"/>
                </a:cubicBezTo>
                <a:cubicBezTo>
                  <a:pt x="2219763" y="-4777"/>
                  <a:pt x="2349283" y="30314"/>
                  <a:pt x="2495107" y="0"/>
                </a:cubicBezTo>
                <a:cubicBezTo>
                  <a:pt x="2500418" y="65163"/>
                  <a:pt x="2472802" y="237658"/>
                  <a:pt x="2495107" y="314123"/>
                </a:cubicBezTo>
                <a:cubicBezTo>
                  <a:pt x="2290704" y="314348"/>
                  <a:pt x="2206687" y="310627"/>
                  <a:pt x="2070939" y="314123"/>
                </a:cubicBezTo>
                <a:cubicBezTo>
                  <a:pt x="1935191" y="317619"/>
                  <a:pt x="1654180" y="288579"/>
                  <a:pt x="1522015" y="314123"/>
                </a:cubicBezTo>
                <a:cubicBezTo>
                  <a:pt x="1389850" y="339667"/>
                  <a:pt x="1104888" y="279133"/>
                  <a:pt x="973092" y="314123"/>
                </a:cubicBezTo>
                <a:cubicBezTo>
                  <a:pt x="841296" y="349113"/>
                  <a:pt x="639720" y="295225"/>
                  <a:pt x="499021" y="314123"/>
                </a:cubicBezTo>
                <a:cubicBezTo>
                  <a:pt x="358322" y="333021"/>
                  <a:pt x="203650" y="254269"/>
                  <a:pt x="0" y="314123"/>
                </a:cubicBezTo>
                <a:cubicBezTo>
                  <a:pt x="-13249" y="229568"/>
                  <a:pt x="25515" y="90623"/>
                  <a:pt x="0" y="0"/>
                </a:cubicBezTo>
                <a:close/>
              </a:path>
              <a:path w="2495107" h="314123" stroke="0" extrusionOk="0">
                <a:moveTo>
                  <a:pt x="0" y="0"/>
                </a:moveTo>
                <a:cubicBezTo>
                  <a:pt x="95478" y="-17737"/>
                  <a:pt x="373827" y="38109"/>
                  <a:pt x="474070" y="0"/>
                </a:cubicBezTo>
                <a:cubicBezTo>
                  <a:pt x="574313" y="-38109"/>
                  <a:pt x="815405" y="34246"/>
                  <a:pt x="948141" y="0"/>
                </a:cubicBezTo>
                <a:cubicBezTo>
                  <a:pt x="1080877" y="-34246"/>
                  <a:pt x="1224268" y="30609"/>
                  <a:pt x="1397260" y="0"/>
                </a:cubicBezTo>
                <a:cubicBezTo>
                  <a:pt x="1570252" y="-30609"/>
                  <a:pt x="1714853" y="37846"/>
                  <a:pt x="1921232" y="0"/>
                </a:cubicBezTo>
                <a:cubicBezTo>
                  <a:pt x="2127611" y="-37846"/>
                  <a:pt x="2224780" y="13193"/>
                  <a:pt x="2495107" y="0"/>
                </a:cubicBezTo>
                <a:cubicBezTo>
                  <a:pt x="2526033" y="121151"/>
                  <a:pt x="2464641" y="169648"/>
                  <a:pt x="2495107" y="314123"/>
                </a:cubicBezTo>
                <a:cubicBezTo>
                  <a:pt x="2386349" y="326444"/>
                  <a:pt x="2235372" y="273863"/>
                  <a:pt x="2070939" y="314123"/>
                </a:cubicBezTo>
                <a:cubicBezTo>
                  <a:pt x="1906506" y="354383"/>
                  <a:pt x="1715085" y="265690"/>
                  <a:pt x="1596868" y="314123"/>
                </a:cubicBezTo>
                <a:cubicBezTo>
                  <a:pt x="1478651" y="362556"/>
                  <a:pt x="1310896" y="289484"/>
                  <a:pt x="1147749" y="314123"/>
                </a:cubicBezTo>
                <a:cubicBezTo>
                  <a:pt x="984602" y="338762"/>
                  <a:pt x="838930" y="280563"/>
                  <a:pt x="623777" y="314123"/>
                </a:cubicBezTo>
                <a:cubicBezTo>
                  <a:pt x="408624" y="347683"/>
                  <a:pt x="210932" y="240192"/>
                  <a:pt x="0" y="314123"/>
                </a:cubicBezTo>
                <a:cubicBezTo>
                  <a:pt x="-4616" y="161189"/>
                  <a:pt x="30958" y="780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ECG Encoder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EF9610-B25A-25C4-1DC5-37A2389E9209}"/>
              </a:ext>
            </a:extLst>
          </p:cNvPr>
          <p:cNvSpPr/>
          <p:nvPr/>
        </p:nvSpPr>
        <p:spPr>
          <a:xfrm>
            <a:off x="2320901" y="5494429"/>
            <a:ext cx="2541144" cy="314123"/>
          </a:xfrm>
          <a:custGeom>
            <a:avLst/>
            <a:gdLst>
              <a:gd name="connsiteX0" fmla="*/ 0 w 2541144"/>
              <a:gd name="connsiteY0" fmla="*/ 0 h 314123"/>
              <a:gd name="connsiteX1" fmla="*/ 559052 w 2541144"/>
              <a:gd name="connsiteY1" fmla="*/ 0 h 314123"/>
              <a:gd name="connsiteX2" fmla="*/ 1118103 w 2541144"/>
              <a:gd name="connsiteY2" fmla="*/ 0 h 314123"/>
              <a:gd name="connsiteX3" fmla="*/ 1651744 w 2541144"/>
              <a:gd name="connsiteY3" fmla="*/ 0 h 314123"/>
              <a:gd name="connsiteX4" fmla="*/ 2083738 w 2541144"/>
              <a:gd name="connsiteY4" fmla="*/ 0 h 314123"/>
              <a:gd name="connsiteX5" fmla="*/ 2541144 w 2541144"/>
              <a:gd name="connsiteY5" fmla="*/ 0 h 314123"/>
              <a:gd name="connsiteX6" fmla="*/ 2541144 w 2541144"/>
              <a:gd name="connsiteY6" fmla="*/ 314123 h 314123"/>
              <a:gd name="connsiteX7" fmla="*/ 2109150 w 2541144"/>
              <a:gd name="connsiteY7" fmla="*/ 314123 h 314123"/>
              <a:gd name="connsiteX8" fmla="*/ 1550098 w 2541144"/>
              <a:gd name="connsiteY8" fmla="*/ 314123 h 314123"/>
              <a:gd name="connsiteX9" fmla="*/ 991046 w 2541144"/>
              <a:gd name="connsiteY9" fmla="*/ 314123 h 314123"/>
              <a:gd name="connsiteX10" fmla="*/ 508229 w 2541144"/>
              <a:gd name="connsiteY10" fmla="*/ 314123 h 314123"/>
              <a:gd name="connsiteX11" fmla="*/ 0 w 2541144"/>
              <a:gd name="connsiteY11" fmla="*/ 314123 h 314123"/>
              <a:gd name="connsiteX12" fmla="*/ 0 w 2541144"/>
              <a:gd name="connsiteY12" fmla="*/ 0 h 31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41144" h="314123" fill="none" extrusionOk="0">
                <a:moveTo>
                  <a:pt x="0" y="0"/>
                </a:moveTo>
                <a:cubicBezTo>
                  <a:pt x="197846" y="-59352"/>
                  <a:pt x="446409" y="28060"/>
                  <a:pt x="559052" y="0"/>
                </a:cubicBezTo>
                <a:cubicBezTo>
                  <a:pt x="671695" y="-28060"/>
                  <a:pt x="979749" y="62105"/>
                  <a:pt x="1118103" y="0"/>
                </a:cubicBezTo>
                <a:cubicBezTo>
                  <a:pt x="1256457" y="-62105"/>
                  <a:pt x="1395726" y="54714"/>
                  <a:pt x="1651744" y="0"/>
                </a:cubicBezTo>
                <a:cubicBezTo>
                  <a:pt x="1907762" y="-54714"/>
                  <a:pt x="1958242" y="25624"/>
                  <a:pt x="2083738" y="0"/>
                </a:cubicBezTo>
                <a:cubicBezTo>
                  <a:pt x="2209234" y="-25624"/>
                  <a:pt x="2419837" y="39930"/>
                  <a:pt x="2541144" y="0"/>
                </a:cubicBezTo>
                <a:cubicBezTo>
                  <a:pt x="2546455" y="65163"/>
                  <a:pt x="2518839" y="237658"/>
                  <a:pt x="2541144" y="314123"/>
                </a:cubicBezTo>
                <a:cubicBezTo>
                  <a:pt x="2372644" y="328734"/>
                  <a:pt x="2215206" y="295932"/>
                  <a:pt x="2109150" y="314123"/>
                </a:cubicBezTo>
                <a:cubicBezTo>
                  <a:pt x="2003094" y="332314"/>
                  <a:pt x="1690839" y="282182"/>
                  <a:pt x="1550098" y="314123"/>
                </a:cubicBezTo>
                <a:cubicBezTo>
                  <a:pt x="1409357" y="346064"/>
                  <a:pt x="1140655" y="304816"/>
                  <a:pt x="991046" y="314123"/>
                </a:cubicBezTo>
                <a:cubicBezTo>
                  <a:pt x="841437" y="323430"/>
                  <a:pt x="696494" y="294982"/>
                  <a:pt x="508229" y="314123"/>
                </a:cubicBezTo>
                <a:cubicBezTo>
                  <a:pt x="319964" y="333264"/>
                  <a:pt x="117113" y="257204"/>
                  <a:pt x="0" y="314123"/>
                </a:cubicBezTo>
                <a:cubicBezTo>
                  <a:pt x="-13249" y="229568"/>
                  <a:pt x="25515" y="90623"/>
                  <a:pt x="0" y="0"/>
                </a:cubicBezTo>
                <a:close/>
              </a:path>
              <a:path w="2541144" h="314123" stroke="0" extrusionOk="0">
                <a:moveTo>
                  <a:pt x="0" y="0"/>
                </a:moveTo>
                <a:cubicBezTo>
                  <a:pt x="98276" y="-57018"/>
                  <a:pt x="352474" y="3930"/>
                  <a:pt x="482817" y="0"/>
                </a:cubicBezTo>
                <a:cubicBezTo>
                  <a:pt x="613160" y="-3930"/>
                  <a:pt x="768969" y="46798"/>
                  <a:pt x="965635" y="0"/>
                </a:cubicBezTo>
                <a:cubicBezTo>
                  <a:pt x="1162301" y="-46798"/>
                  <a:pt x="1263431" y="44035"/>
                  <a:pt x="1423041" y="0"/>
                </a:cubicBezTo>
                <a:cubicBezTo>
                  <a:pt x="1582651" y="-44035"/>
                  <a:pt x="1798604" y="30102"/>
                  <a:pt x="1956681" y="0"/>
                </a:cubicBezTo>
                <a:cubicBezTo>
                  <a:pt x="2114758" y="-30102"/>
                  <a:pt x="2348725" y="38602"/>
                  <a:pt x="2541144" y="0"/>
                </a:cubicBezTo>
                <a:cubicBezTo>
                  <a:pt x="2572070" y="121151"/>
                  <a:pt x="2510678" y="169648"/>
                  <a:pt x="2541144" y="314123"/>
                </a:cubicBezTo>
                <a:cubicBezTo>
                  <a:pt x="2410461" y="315352"/>
                  <a:pt x="2300133" y="287876"/>
                  <a:pt x="2109150" y="314123"/>
                </a:cubicBezTo>
                <a:cubicBezTo>
                  <a:pt x="1918167" y="340370"/>
                  <a:pt x="1831692" y="303916"/>
                  <a:pt x="1626332" y="314123"/>
                </a:cubicBezTo>
                <a:cubicBezTo>
                  <a:pt x="1420972" y="324330"/>
                  <a:pt x="1278312" y="305311"/>
                  <a:pt x="1168926" y="314123"/>
                </a:cubicBezTo>
                <a:cubicBezTo>
                  <a:pt x="1059540" y="322935"/>
                  <a:pt x="752032" y="310908"/>
                  <a:pt x="635286" y="314123"/>
                </a:cubicBezTo>
                <a:cubicBezTo>
                  <a:pt x="518540" y="317338"/>
                  <a:pt x="158808" y="248379"/>
                  <a:pt x="0" y="314123"/>
                </a:cubicBezTo>
                <a:cubicBezTo>
                  <a:pt x="-4616" y="161189"/>
                  <a:pt x="30958" y="780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 </a:t>
            </a:r>
            <a:r>
              <a:rPr lang="en-US" sz="1400" dirty="0"/>
              <a:t>MCG Encoder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58684C-A77F-0892-C29F-47EDA77F4347}"/>
              </a:ext>
            </a:extLst>
          </p:cNvPr>
          <p:cNvSpPr/>
          <p:nvPr/>
        </p:nvSpPr>
        <p:spPr>
          <a:xfrm>
            <a:off x="5346698" y="4970582"/>
            <a:ext cx="2186003" cy="283669"/>
          </a:xfrm>
          <a:custGeom>
            <a:avLst/>
            <a:gdLst>
              <a:gd name="connsiteX0" fmla="*/ 0 w 2186003"/>
              <a:gd name="connsiteY0" fmla="*/ 0 h 283669"/>
              <a:gd name="connsiteX1" fmla="*/ 590221 w 2186003"/>
              <a:gd name="connsiteY1" fmla="*/ 0 h 283669"/>
              <a:gd name="connsiteX2" fmla="*/ 1071141 w 2186003"/>
              <a:gd name="connsiteY2" fmla="*/ 0 h 283669"/>
              <a:gd name="connsiteX3" fmla="*/ 1573922 w 2186003"/>
              <a:gd name="connsiteY3" fmla="*/ 0 h 283669"/>
              <a:gd name="connsiteX4" fmla="*/ 2186003 w 2186003"/>
              <a:gd name="connsiteY4" fmla="*/ 0 h 283669"/>
              <a:gd name="connsiteX5" fmla="*/ 2186003 w 2186003"/>
              <a:gd name="connsiteY5" fmla="*/ 283669 h 283669"/>
              <a:gd name="connsiteX6" fmla="*/ 1683222 w 2186003"/>
              <a:gd name="connsiteY6" fmla="*/ 283669 h 283669"/>
              <a:gd name="connsiteX7" fmla="*/ 1114862 w 2186003"/>
              <a:gd name="connsiteY7" fmla="*/ 283669 h 283669"/>
              <a:gd name="connsiteX8" fmla="*/ 633941 w 2186003"/>
              <a:gd name="connsiteY8" fmla="*/ 283669 h 283669"/>
              <a:gd name="connsiteX9" fmla="*/ 0 w 2186003"/>
              <a:gd name="connsiteY9" fmla="*/ 283669 h 283669"/>
              <a:gd name="connsiteX10" fmla="*/ 0 w 2186003"/>
              <a:gd name="connsiteY10" fmla="*/ 0 h 28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86003" h="283669" fill="none" extrusionOk="0">
                <a:moveTo>
                  <a:pt x="0" y="0"/>
                </a:moveTo>
                <a:cubicBezTo>
                  <a:pt x="141067" y="-70418"/>
                  <a:pt x="370382" y="33745"/>
                  <a:pt x="590221" y="0"/>
                </a:cubicBezTo>
                <a:cubicBezTo>
                  <a:pt x="810060" y="-33745"/>
                  <a:pt x="953830" y="22721"/>
                  <a:pt x="1071141" y="0"/>
                </a:cubicBezTo>
                <a:cubicBezTo>
                  <a:pt x="1188452" y="-22721"/>
                  <a:pt x="1359946" y="25377"/>
                  <a:pt x="1573922" y="0"/>
                </a:cubicBezTo>
                <a:cubicBezTo>
                  <a:pt x="1787898" y="-25377"/>
                  <a:pt x="2061676" y="20927"/>
                  <a:pt x="2186003" y="0"/>
                </a:cubicBezTo>
                <a:cubicBezTo>
                  <a:pt x="2217740" y="114723"/>
                  <a:pt x="2179207" y="155154"/>
                  <a:pt x="2186003" y="283669"/>
                </a:cubicBezTo>
                <a:cubicBezTo>
                  <a:pt x="1996321" y="326009"/>
                  <a:pt x="1933139" y="227410"/>
                  <a:pt x="1683222" y="283669"/>
                </a:cubicBezTo>
                <a:cubicBezTo>
                  <a:pt x="1433305" y="339928"/>
                  <a:pt x="1312412" y="229184"/>
                  <a:pt x="1114862" y="283669"/>
                </a:cubicBezTo>
                <a:cubicBezTo>
                  <a:pt x="917312" y="338154"/>
                  <a:pt x="738244" y="242738"/>
                  <a:pt x="633941" y="283669"/>
                </a:cubicBezTo>
                <a:cubicBezTo>
                  <a:pt x="529638" y="324600"/>
                  <a:pt x="212827" y="256961"/>
                  <a:pt x="0" y="283669"/>
                </a:cubicBezTo>
                <a:cubicBezTo>
                  <a:pt x="-1003" y="168077"/>
                  <a:pt x="10247" y="94007"/>
                  <a:pt x="0" y="0"/>
                </a:cubicBezTo>
                <a:close/>
              </a:path>
              <a:path w="2186003" h="283669" stroke="0" extrusionOk="0">
                <a:moveTo>
                  <a:pt x="0" y="0"/>
                </a:moveTo>
                <a:cubicBezTo>
                  <a:pt x="137368" y="-32732"/>
                  <a:pt x="358262" y="24669"/>
                  <a:pt x="524641" y="0"/>
                </a:cubicBezTo>
                <a:cubicBezTo>
                  <a:pt x="691020" y="-24669"/>
                  <a:pt x="791369" y="28587"/>
                  <a:pt x="1049281" y="0"/>
                </a:cubicBezTo>
                <a:cubicBezTo>
                  <a:pt x="1307193" y="-28587"/>
                  <a:pt x="1320157" y="1665"/>
                  <a:pt x="1552062" y="0"/>
                </a:cubicBezTo>
                <a:cubicBezTo>
                  <a:pt x="1783967" y="-1665"/>
                  <a:pt x="2045425" y="10537"/>
                  <a:pt x="2186003" y="0"/>
                </a:cubicBezTo>
                <a:cubicBezTo>
                  <a:pt x="2194157" y="88492"/>
                  <a:pt x="2171755" y="212528"/>
                  <a:pt x="2186003" y="283669"/>
                </a:cubicBezTo>
                <a:cubicBezTo>
                  <a:pt x="2022244" y="306910"/>
                  <a:pt x="1836602" y="243818"/>
                  <a:pt x="1661362" y="283669"/>
                </a:cubicBezTo>
                <a:cubicBezTo>
                  <a:pt x="1486122" y="323520"/>
                  <a:pt x="1303846" y="247346"/>
                  <a:pt x="1093002" y="283669"/>
                </a:cubicBezTo>
                <a:cubicBezTo>
                  <a:pt x="882158" y="319992"/>
                  <a:pt x="781556" y="235019"/>
                  <a:pt x="568361" y="283669"/>
                </a:cubicBezTo>
                <a:cubicBezTo>
                  <a:pt x="355166" y="332319"/>
                  <a:pt x="114865" y="232079"/>
                  <a:pt x="0" y="283669"/>
                </a:cubicBezTo>
                <a:cubicBezTo>
                  <a:pt x="-16890" y="207945"/>
                  <a:pt x="25696" y="9261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A79FB4-215A-85E9-1A0B-821D22A0A9B6}"/>
              </a:ext>
            </a:extLst>
          </p:cNvPr>
          <p:cNvSpPr/>
          <p:nvPr/>
        </p:nvSpPr>
        <p:spPr>
          <a:xfrm>
            <a:off x="5346700" y="5501863"/>
            <a:ext cx="2186003" cy="283670"/>
          </a:xfrm>
          <a:custGeom>
            <a:avLst/>
            <a:gdLst>
              <a:gd name="connsiteX0" fmla="*/ 0 w 2186003"/>
              <a:gd name="connsiteY0" fmla="*/ 0 h 283670"/>
              <a:gd name="connsiteX1" fmla="*/ 590221 w 2186003"/>
              <a:gd name="connsiteY1" fmla="*/ 0 h 283670"/>
              <a:gd name="connsiteX2" fmla="*/ 1071141 w 2186003"/>
              <a:gd name="connsiteY2" fmla="*/ 0 h 283670"/>
              <a:gd name="connsiteX3" fmla="*/ 1573922 w 2186003"/>
              <a:gd name="connsiteY3" fmla="*/ 0 h 283670"/>
              <a:gd name="connsiteX4" fmla="*/ 2186003 w 2186003"/>
              <a:gd name="connsiteY4" fmla="*/ 0 h 283670"/>
              <a:gd name="connsiteX5" fmla="*/ 2186003 w 2186003"/>
              <a:gd name="connsiteY5" fmla="*/ 283670 h 283670"/>
              <a:gd name="connsiteX6" fmla="*/ 1683222 w 2186003"/>
              <a:gd name="connsiteY6" fmla="*/ 283670 h 283670"/>
              <a:gd name="connsiteX7" fmla="*/ 1114862 w 2186003"/>
              <a:gd name="connsiteY7" fmla="*/ 283670 h 283670"/>
              <a:gd name="connsiteX8" fmla="*/ 633941 w 2186003"/>
              <a:gd name="connsiteY8" fmla="*/ 283670 h 283670"/>
              <a:gd name="connsiteX9" fmla="*/ 0 w 2186003"/>
              <a:gd name="connsiteY9" fmla="*/ 283670 h 283670"/>
              <a:gd name="connsiteX10" fmla="*/ 0 w 2186003"/>
              <a:gd name="connsiteY10" fmla="*/ 0 h 283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86003" h="283670" fill="none" extrusionOk="0">
                <a:moveTo>
                  <a:pt x="0" y="0"/>
                </a:moveTo>
                <a:cubicBezTo>
                  <a:pt x="141067" y="-70418"/>
                  <a:pt x="370382" y="33745"/>
                  <a:pt x="590221" y="0"/>
                </a:cubicBezTo>
                <a:cubicBezTo>
                  <a:pt x="810060" y="-33745"/>
                  <a:pt x="953830" y="22721"/>
                  <a:pt x="1071141" y="0"/>
                </a:cubicBezTo>
                <a:cubicBezTo>
                  <a:pt x="1188452" y="-22721"/>
                  <a:pt x="1359946" y="25377"/>
                  <a:pt x="1573922" y="0"/>
                </a:cubicBezTo>
                <a:cubicBezTo>
                  <a:pt x="1787898" y="-25377"/>
                  <a:pt x="2061676" y="20927"/>
                  <a:pt x="2186003" y="0"/>
                </a:cubicBezTo>
                <a:cubicBezTo>
                  <a:pt x="2218602" y="112807"/>
                  <a:pt x="2181946" y="154971"/>
                  <a:pt x="2186003" y="283670"/>
                </a:cubicBezTo>
                <a:cubicBezTo>
                  <a:pt x="1996321" y="326010"/>
                  <a:pt x="1933139" y="227411"/>
                  <a:pt x="1683222" y="283670"/>
                </a:cubicBezTo>
                <a:cubicBezTo>
                  <a:pt x="1433305" y="339929"/>
                  <a:pt x="1312412" y="229185"/>
                  <a:pt x="1114862" y="283670"/>
                </a:cubicBezTo>
                <a:cubicBezTo>
                  <a:pt x="917312" y="338155"/>
                  <a:pt x="738244" y="242739"/>
                  <a:pt x="633941" y="283670"/>
                </a:cubicBezTo>
                <a:cubicBezTo>
                  <a:pt x="529638" y="324601"/>
                  <a:pt x="212827" y="256962"/>
                  <a:pt x="0" y="283670"/>
                </a:cubicBezTo>
                <a:cubicBezTo>
                  <a:pt x="-15665" y="179326"/>
                  <a:pt x="5309" y="108990"/>
                  <a:pt x="0" y="0"/>
                </a:cubicBezTo>
                <a:close/>
              </a:path>
              <a:path w="2186003" h="283670" stroke="0" extrusionOk="0">
                <a:moveTo>
                  <a:pt x="0" y="0"/>
                </a:moveTo>
                <a:cubicBezTo>
                  <a:pt x="137368" y="-32732"/>
                  <a:pt x="358262" y="24669"/>
                  <a:pt x="524641" y="0"/>
                </a:cubicBezTo>
                <a:cubicBezTo>
                  <a:pt x="691020" y="-24669"/>
                  <a:pt x="791369" y="28587"/>
                  <a:pt x="1049281" y="0"/>
                </a:cubicBezTo>
                <a:cubicBezTo>
                  <a:pt x="1307193" y="-28587"/>
                  <a:pt x="1320157" y="1665"/>
                  <a:pt x="1552062" y="0"/>
                </a:cubicBezTo>
                <a:cubicBezTo>
                  <a:pt x="1783967" y="-1665"/>
                  <a:pt x="2045425" y="10537"/>
                  <a:pt x="2186003" y="0"/>
                </a:cubicBezTo>
                <a:cubicBezTo>
                  <a:pt x="2199365" y="80635"/>
                  <a:pt x="2181623" y="212332"/>
                  <a:pt x="2186003" y="283670"/>
                </a:cubicBezTo>
                <a:cubicBezTo>
                  <a:pt x="2022244" y="306911"/>
                  <a:pt x="1836602" y="243819"/>
                  <a:pt x="1661362" y="283670"/>
                </a:cubicBezTo>
                <a:cubicBezTo>
                  <a:pt x="1486122" y="323521"/>
                  <a:pt x="1303846" y="247347"/>
                  <a:pt x="1093002" y="283670"/>
                </a:cubicBezTo>
                <a:cubicBezTo>
                  <a:pt x="882158" y="319993"/>
                  <a:pt x="781556" y="235020"/>
                  <a:pt x="568361" y="283670"/>
                </a:cubicBezTo>
                <a:cubicBezTo>
                  <a:pt x="355166" y="332320"/>
                  <a:pt x="114865" y="232080"/>
                  <a:pt x="0" y="283670"/>
                </a:cubicBezTo>
                <a:cubicBezTo>
                  <a:pt x="-26598" y="215787"/>
                  <a:pt x="12416" y="104162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DEB88A-F0A4-D6EC-427A-14C659757B5F}"/>
              </a:ext>
            </a:extLst>
          </p:cNvPr>
          <p:cNvSpPr/>
          <p:nvPr/>
        </p:nvSpPr>
        <p:spPr>
          <a:xfrm>
            <a:off x="2485197" y="6737300"/>
            <a:ext cx="2232248" cy="314123"/>
          </a:xfrm>
          <a:custGeom>
            <a:avLst/>
            <a:gdLst>
              <a:gd name="connsiteX0" fmla="*/ 0 w 2232248"/>
              <a:gd name="connsiteY0" fmla="*/ 0 h 314123"/>
              <a:gd name="connsiteX1" fmla="*/ 602707 w 2232248"/>
              <a:gd name="connsiteY1" fmla="*/ 0 h 314123"/>
              <a:gd name="connsiteX2" fmla="*/ 1093802 w 2232248"/>
              <a:gd name="connsiteY2" fmla="*/ 0 h 314123"/>
              <a:gd name="connsiteX3" fmla="*/ 1607219 w 2232248"/>
              <a:gd name="connsiteY3" fmla="*/ 0 h 314123"/>
              <a:gd name="connsiteX4" fmla="*/ 2232248 w 2232248"/>
              <a:gd name="connsiteY4" fmla="*/ 0 h 314123"/>
              <a:gd name="connsiteX5" fmla="*/ 2232248 w 2232248"/>
              <a:gd name="connsiteY5" fmla="*/ 314123 h 314123"/>
              <a:gd name="connsiteX6" fmla="*/ 1718831 w 2232248"/>
              <a:gd name="connsiteY6" fmla="*/ 314123 h 314123"/>
              <a:gd name="connsiteX7" fmla="*/ 1138446 w 2232248"/>
              <a:gd name="connsiteY7" fmla="*/ 314123 h 314123"/>
              <a:gd name="connsiteX8" fmla="*/ 647352 w 2232248"/>
              <a:gd name="connsiteY8" fmla="*/ 314123 h 314123"/>
              <a:gd name="connsiteX9" fmla="*/ 0 w 2232248"/>
              <a:gd name="connsiteY9" fmla="*/ 314123 h 314123"/>
              <a:gd name="connsiteX10" fmla="*/ 0 w 2232248"/>
              <a:gd name="connsiteY10" fmla="*/ 0 h 31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32248" h="314123" fill="none" extrusionOk="0">
                <a:moveTo>
                  <a:pt x="0" y="0"/>
                </a:moveTo>
                <a:cubicBezTo>
                  <a:pt x="193446" y="-28035"/>
                  <a:pt x="387353" y="21337"/>
                  <a:pt x="602707" y="0"/>
                </a:cubicBezTo>
                <a:cubicBezTo>
                  <a:pt x="818061" y="-21337"/>
                  <a:pt x="897334" y="3693"/>
                  <a:pt x="1093802" y="0"/>
                </a:cubicBezTo>
                <a:cubicBezTo>
                  <a:pt x="1290271" y="-3693"/>
                  <a:pt x="1473581" y="2413"/>
                  <a:pt x="1607219" y="0"/>
                </a:cubicBezTo>
                <a:cubicBezTo>
                  <a:pt x="1740857" y="-2413"/>
                  <a:pt x="1941264" y="55962"/>
                  <a:pt x="2232248" y="0"/>
                </a:cubicBezTo>
                <a:cubicBezTo>
                  <a:pt x="2248176" y="92029"/>
                  <a:pt x="2213146" y="224165"/>
                  <a:pt x="2232248" y="314123"/>
                </a:cubicBezTo>
                <a:cubicBezTo>
                  <a:pt x="2123873" y="323924"/>
                  <a:pt x="1965601" y="282703"/>
                  <a:pt x="1718831" y="314123"/>
                </a:cubicBezTo>
                <a:cubicBezTo>
                  <a:pt x="1472061" y="345543"/>
                  <a:pt x="1273937" y="255995"/>
                  <a:pt x="1138446" y="314123"/>
                </a:cubicBezTo>
                <a:cubicBezTo>
                  <a:pt x="1002956" y="372251"/>
                  <a:pt x="885521" y="270820"/>
                  <a:pt x="647352" y="314123"/>
                </a:cubicBezTo>
                <a:cubicBezTo>
                  <a:pt x="409183" y="357426"/>
                  <a:pt x="239605" y="249497"/>
                  <a:pt x="0" y="314123"/>
                </a:cubicBezTo>
                <a:cubicBezTo>
                  <a:pt x="-32864" y="199492"/>
                  <a:pt x="14719" y="89422"/>
                  <a:pt x="0" y="0"/>
                </a:cubicBezTo>
                <a:close/>
              </a:path>
              <a:path w="2232248" h="314123" stroke="0" extrusionOk="0">
                <a:moveTo>
                  <a:pt x="0" y="0"/>
                </a:moveTo>
                <a:cubicBezTo>
                  <a:pt x="254577" y="-25785"/>
                  <a:pt x="388247" y="16144"/>
                  <a:pt x="535740" y="0"/>
                </a:cubicBezTo>
                <a:cubicBezTo>
                  <a:pt x="683233" y="-16144"/>
                  <a:pt x="962853" y="52076"/>
                  <a:pt x="1071479" y="0"/>
                </a:cubicBezTo>
                <a:cubicBezTo>
                  <a:pt x="1180105" y="-52076"/>
                  <a:pt x="1374295" y="2370"/>
                  <a:pt x="1584896" y="0"/>
                </a:cubicBezTo>
                <a:cubicBezTo>
                  <a:pt x="1795497" y="-2370"/>
                  <a:pt x="2035381" y="59908"/>
                  <a:pt x="2232248" y="0"/>
                </a:cubicBezTo>
                <a:cubicBezTo>
                  <a:pt x="2266633" y="87533"/>
                  <a:pt x="2219609" y="180532"/>
                  <a:pt x="2232248" y="314123"/>
                </a:cubicBezTo>
                <a:cubicBezTo>
                  <a:pt x="1973764" y="372511"/>
                  <a:pt x="1807129" y="309683"/>
                  <a:pt x="1696508" y="314123"/>
                </a:cubicBezTo>
                <a:cubicBezTo>
                  <a:pt x="1585887" y="318563"/>
                  <a:pt x="1334927" y="249258"/>
                  <a:pt x="1116124" y="314123"/>
                </a:cubicBezTo>
                <a:cubicBezTo>
                  <a:pt x="897321" y="378988"/>
                  <a:pt x="836172" y="308278"/>
                  <a:pt x="580384" y="314123"/>
                </a:cubicBezTo>
                <a:cubicBezTo>
                  <a:pt x="324596" y="319968"/>
                  <a:pt x="288377" y="267668"/>
                  <a:pt x="0" y="314123"/>
                </a:cubicBezTo>
                <a:cubicBezTo>
                  <a:pt x="-24319" y="226329"/>
                  <a:pt x="7820" y="107137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(paired beats)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09B2EE-4731-2002-3149-4BA3B91EC273}"/>
              </a:ext>
            </a:extLst>
          </p:cNvPr>
          <p:cNvSpPr/>
          <p:nvPr/>
        </p:nvSpPr>
        <p:spPr>
          <a:xfrm>
            <a:off x="8185172" y="5054419"/>
            <a:ext cx="2317728" cy="620775"/>
          </a:xfrm>
          <a:custGeom>
            <a:avLst/>
            <a:gdLst>
              <a:gd name="connsiteX0" fmla="*/ 0 w 2317728"/>
              <a:gd name="connsiteY0" fmla="*/ 0 h 620775"/>
              <a:gd name="connsiteX1" fmla="*/ 625787 w 2317728"/>
              <a:gd name="connsiteY1" fmla="*/ 0 h 620775"/>
              <a:gd name="connsiteX2" fmla="*/ 1251573 w 2317728"/>
              <a:gd name="connsiteY2" fmla="*/ 0 h 620775"/>
              <a:gd name="connsiteX3" fmla="*/ 2317728 w 2317728"/>
              <a:gd name="connsiteY3" fmla="*/ 0 h 620775"/>
              <a:gd name="connsiteX4" fmla="*/ 2317728 w 2317728"/>
              <a:gd name="connsiteY4" fmla="*/ 291764 h 620775"/>
              <a:gd name="connsiteX5" fmla="*/ 2317728 w 2317728"/>
              <a:gd name="connsiteY5" fmla="*/ 620775 h 620775"/>
              <a:gd name="connsiteX6" fmla="*/ 1691941 w 2317728"/>
              <a:gd name="connsiteY6" fmla="*/ 620775 h 620775"/>
              <a:gd name="connsiteX7" fmla="*/ 1066155 w 2317728"/>
              <a:gd name="connsiteY7" fmla="*/ 620775 h 620775"/>
              <a:gd name="connsiteX8" fmla="*/ 0 w 2317728"/>
              <a:gd name="connsiteY8" fmla="*/ 620775 h 620775"/>
              <a:gd name="connsiteX9" fmla="*/ 0 w 2317728"/>
              <a:gd name="connsiteY9" fmla="*/ 297972 h 620775"/>
              <a:gd name="connsiteX10" fmla="*/ 0 w 2317728"/>
              <a:gd name="connsiteY10" fmla="*/ 0 h 62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17728" h="620775" fill="none" extrusionOk="0">
                <a:moveTo>
                  <a:pt x="0" y="0"/>
                </a:moveTo>
                <a:cubicBezTo>
                  <a:pt x="188413" y="-69593"/>
                  <a:pt x="331778" y="54979"/>
                  <a:pt x="625787" y="0"/>
                </a:cubicBezTo>
                <a:cubicBezTo>
                  <a:pt x="919796" y="-54979"/>
                  <a:pt x="948943" y="17079"/>
                  <a:pt x="1251573" y="0"/>
                </a:cubicBezTo>
                <a:cubicBezTo>
                  <a:pt x="1554203" y="-17079"/>
                  <a:pt x="2051397" y="57010"/>
                  <a:pt x="2317728" y="0"/>
                </a:cubicBezTo>
                <a:cubicBezTo>
                  <a:pt x="2330757" y="135934"/>
                  <a:pt x="2306715" y="190559"/>
                  <a:pt x="2317728" y="291764"/>
                </a:cubicBezTo>
                <a:cubicBezTo>
                  <a:pt x="2328741" y="392969"/>
                  <a:pt x="2298032" y="537373"/>
                  <a:pt x="2317728" y="620775"/>
                </a:cubicBezTo>
                <a:cubicBezTo>
                  <a:pt x="2083567" y="621679"/>
                  <a:pt x="1833180" y="576323"/>
                  <a:pt x="1691941" y="620775"/>
                </a:cubicBezTo>
                <a:cubicBezTo>
                  <a:pt x="1550702" y="665227"/>
                  <a:pt x="1256257" y="603427"/>
                  <a:pt x="1066155" y="620775"/>
                </a:cubicBezTo>
                <a:cubicBezTo>
                  <a:pt x="876053" y="638123"/>
                  <a:pt x="384638" y="532073"/>
                  <a:pt x="0" y="620775"/>
                </a:cubicBezTo>
                <a:cubicBezTo>
                  <a:pt x="-22419" y="520245"/>
                  <a:pt x="2972" y="384068"/>
                  <a:pt x="0" y="297972"/>
                </a:cubicBezTo>
                <a:cubicBezTo>
                  <a:pt x="-2972" y="211876"/>
                  <a:pt x="11209" y="103295"/>
                  <a:pt x="0" y="0"/>
                </a:cubicBezTo>
                <a:close/>
              </a:path>
              <a:path w="2317728" h="620775" stroke="0" extrusionOk="0">
                <a:moveTo>
                  <a:pt x="0" y="0"/>
                </a:moveTo>
                <a:cubicBezTo>
                  <a:pt x="174926" y="-36854"/>
                  <a:pt x="394543" y="8603"/>
                  <a:pt x="556255" y="0"/>
                </a:cubicBezTo>
                <a:cubicBezTo>
                  <a:pt x="717968" y="-8603"/>
                  <a:pt x="925526" y="46258"/>
                  <a:pt x="1112509" y="0"/>
                </a:cubicBezTo>
                <a:cubicBezTo>
                  <a:pt x="1299492" y="-46258"/>
                  <a:pt x="1501575" y="15502"/>
                  <a:pt x="1645587" y="0"/>
                </a:cubicBezTo>
                <a:cubicBezTo>
                  <a:pt x="1789599" y="-15502"/>
                  <a:pt x="2018889" y="70778"/>
                  <a:pt x="2317728" y="0"/>
                </a:cubicBezTo>
                <a:cubicBezTo>
                  <a:pt x="2336542" y="79180"/>
                  <a:pt x="2306588" y="180311"/>
                  <a:pt x="2317728" y="297972"/>
                </a:cubicBezTo>
                <a:cubicBezTo>
                  <a:pt x="2328868" y="415633"/>
                  <a:pt x="2303284" y="556201"/>
                  <a:pt x="2317728" y="620775"/>
                </a:cubicBezTo>
                <a:cubicBezTo>
                  <a:pt x="2108260" y="674183"/>
                  <a:pt x="2000041" y="592914"/>
                  <a:pt x="1807828" y="620775"/>
                </a:cubicBezTo>
                <a:cubicBezTo>
                  <a:pt x="1615615" y="648636"/>
                  <a:pt x="1446897" y="616580"/>
                  <a:pt x="1251573" y="620775"/>
                </a:cubicBezTo>
                <a:cubicBezTo>
                  <a:pt x="1056250" y="624970"/>
                  <a:pt x="873165" y="599604"/>
                  <a:pt x="718496" y="620775"/>
                </a:cubicBezTo>
                <a:cubicBezTo>
                  <a:pt x="563827" y="641946"/>
                  <a:pt x="295511" y="544262"/>
                  <a:pt x="0" y="620775"/>
                </a:cubicBezTo>
                <a:cubicBezTo>
                  <a:pt x="-5624" y="505442"/>
                  <a:pt x="17515" y="426930"/>
                  <a:pt x="0" y="297972"/>
                </a:cubicBezTo>
                <a:cubicBezTo>
                  <a:pt x="-17515" y="169014"/>
                  <a:pt x="27912" y="129331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Shared Latent Space </a:t>
            </a:r>
          </a:p>
          <a:p>
            <a:pPr algn="ctr"/>
            <a:r>
              <a:rPr lang="en-US" sz="1400" dirty="0"/>
              <a:t>Alignment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633785-65EA-9D43-4E2C-781C17122F81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1530276" y="3780631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9AD43C3-0828-FEB5-6261-5A0E365A2BE9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 flipV="1">
            <a:off x="1674292" y="5112717"/>
            <a:ext cx="64660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57E528-B64E-678B-E99A-780EB5A86DED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1674292" y="5651491"/>
            <a:ext cx="64660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37FC9A4-E598-012D-5735-AE22E32B1E8A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 flipV="1">
            <a:off x="4816008" y="5112417"/>
            <a:ext cx="530690" cy="30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2F418A7-60C3-74D2-7843-BD8BC58F4454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4862045" y="5643698"/>
            <a:ext cx="484655" cy="779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4C17F61-A1F6-03C0-3FEB-7141F840E02F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>
            <a:off x="7722964" y="5364807"/>
            <a:ext cx="462208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58A0C24-603D-0DD9-0E43-44F08875385D}"/>
              </a:ext>
            </a:extLst>
          </p:cNvPr>
          <p:cNvCxnSpPr>
            <a:stCxn id="12" idx="3"/>
            <a:endCxn id="21" idx="0"/>
          </p:cNvCxnSpPr>
          <p:nvPr/>
        </p:nvCxnSpPr>
        <p:spPr>
          <a:xfrm>
            <a:off x="5130676" y="3780631"/>
            <a:ext cx="1344735" cy="100811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24B5BBF-93F9-D528-708B-6A7E78540431}"/>
              </a:ext>
            </a:extLst>
          </p:cNvPr>
          <p:cNvCxnSpPr>
            <a:cxnSpLocks/>
            <a:stCxn id="21" idx="2"/>
            <a:endCxn id="19" idx="3"/>
          </p:cNvCxnSpPr>
          <p:nvPr/>
        </p:nvCxnSpPr>
        <p:spPr>
          <a:xfrm rot="5400000">
            <a:off x="5119683" y="5538633"/>
            <a:ext cx="953491" cy="175796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9079B08B-7C85-066B-76AD-0722CAE555A5}"/>
              </a:ext>
            </a:extLst>
          </p:cNvPr>
          <p:cNvSpPr/>
          <p:nvPr/>
        </p:nvSpPr>
        <p:spPr>
          <a:xfrm>
            <a:off x="2949629" y="6393496"/>
            <a:ext cx="1244943" cy="314123"/>
          </a:xfrm>
          <a:custGeom>
            <a:avLst/>
            <a:gdLst>
              <a:gd name="connsiteX0" fmla="*/ 0 w 1244943"/>
              <a:gd name="connsiteY0" fmla="*/ 0 h 314123"/>
              <a:gd name="connsiteX1" fmla="*/ 390082 w 1244943"/>
              <a:gd name="connsiteY1" fmla="*/ 0 h 314123"/>
              <a:gd name="connsiteX2" fmla="*/ 817513 w 1244943"/>
              <a:gd name="connsiteY2" fmla="*/ 0 h 314123"/>
              <a:gd name="connsiteX3" fmla="*/ 1244943 w 1244943"/>
              <a:gd name="connsiteY3" fmla="*/ 0 h 314123"/>
              <a:gd name="connsiteX4" fmla="*/ 1244943 w 1244943"/>
              <a:gd name="connsiteY4" fmla="*/ 314123 h 314123"/>
              <a:gd name="connsiteX5" fmla="*/ 842411 w 1244943"/>
              <a:gd name="connsiteY5" fmla="*/ 314123 h 314123"/>
              <a:gd name="connsiteX6" fmla="*/ 452329 w 1244943"/>
              <a:gd name="connsiteY6" fmla="*/ 314123 h 314123"/>
              <a:gd name="connsiteX7" fmla="*/ 0 w 1244943"/>
              <a:gd name="connsiteY7" fmla="*/ 314123 h 314123"/>
              <a:gd name="connsiteX8" fmla="*/ 0 w 1244943"/>
              <a:gd name="connsiteY8" fmla="*/ 0 h 31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4943" h="314123" fill="none" extrusionOk="0">
                <a:moveTo>
                  <a:pt x="0" y="0"/>
                </a:moveTo>
                <a:cubicBezTo>
                  <a:pt x="106766" y="-34664"/>
                  <a:pt x="307409" y="14144"/>
                  <a:pt x="390082" y="0"/>
                </a:cubicBezTo>
                <a:cubicBezTo>
                  <a:pt x="472755" y="-14144"/>
                  <a:pt x="632025" y="20277"/>
                  <a:pt x="817513" y="0"/>
                </a:cubicBezTo>
                <a:cubicBezTo>
                  <a:pt x="1003001" y="-20277"/>
                  <a:pt x="1157110" y="47239"/>
                  <a:pt x="1244943" y="0"/>
                </a:cubicBezTo>
                <a:cubicBezTo>
                  <a:pt x="1264932" y="87850"/>
                  <a:pt x="1228695" y="241402"/>
                  <a:pt x="1244943" y="314123"/>
                </a:cubicBezTo>
                <a:cubicBezTo>
                  <a:pt x="1082661" y="336610"/>
                  <a:pt x="969298" y="277090"/>
                  <a:pt x="842411" y="314123"/>
                </a:cubicBezTo>
                <a:cubicBezTo>
                  <a:pt x="715524" y="351156"/>
                  <a:pt x="566173" y="279623"/>
                  <a:pt x="452329" y="314123"/>
                </a:cubicBezTo>
                <a:cubicBezTo>
                  <a:pt x="338485" y="348623"/>
                  <a:pt x="110857" y="281032"/>
                  <a:pt x="0" y="314123"/>
                </a:cubicBezTo>
                <a:cubicBezTo>
                  <a:pt x="-18964" y="201017"/>
                  <a:pt x="32384" y="154723"/>
                  <a:pt x="0" y="0"/>
                </a:cubicBezTo>
                <a:close/>
              </a:path>
              <a:path w="1244943" h="314123" stroke="0" extrusionOk="0">
                <a:moveTo>
                  <a:pt x="0" y="0"/>
                </a:moveTo>
                <a:cubicBezTo>
                  <a:pt x="149267" y="-44722"/>
                  <a:pt x="293586" y="2506"/>
                  <a:pt x="402532" y="0"/>
                </a:cubicBezTo>
                <a:cubicBezTo>
                  <a:pt x="511478" y="-2506"/>
                  <a:pt x="639617" y="23031"/>
                  <a:pt x="805063" y="0"/>
                </a:cubicBezTo>
                <a:cubicBezTo>
                  <a:pt x="970509" y="-23031"/>
                  <a:pt x="1054808" y="23279"/>
                  <a:pt x="1244943" y="0"/>
                </a:cubicBezTo>
                <a:cubicBezTo>
                  <a:pt x="1276129" y="144617"/>
                  <a:pt x="1215431" y="229593"/>
                  <a:pt x="1244943" y="314123"/>
                </a:cubicBezTo>
                <a:cubicBezTo>
                  <a:pt x="1143527" y="360915"/>
                  <a:pt x="961036" y="283415"/>
                  <a:pt x="842411" y="314123"/>
                </a:cubicBezTo>
                <a:cubicBezTo>
                  <a:pt x="723786" y="344831"/>
                  <a:pt x="572736" y="299903"/>
                  <a:pt x="427430" y="314123"/>
                </a:cubicBezTo>
                <a:cubicBezTo>
                  <a:pt x="282124" y="328343"/>
                  <a:pt x="144181" y="296530"/>
                  <a:pt x="0" y="314123"/>
                </a:cubicBezTo>
                <a:cubicBezTo>
                  <a:pt x="-2525" y="191332"/>
                  <a:pt x="23346" y="109156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02037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B7405"/>
                </a:solidFill>
              </a:rPr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2506982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86997" y="7158696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chemeClr val="accent6"/>
                </a:solidFill>
                <a:latin typeface="Caladea"/>
                <a:ea typeface="HY견고딕" pitchFamily="18" charset="-127"/>
              </a:rPr>
              <a:t>Conclusion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12A67-7B77-A2D0-0617-867AB1D4F0A5}"/>
              </a:ext>
            </a:extLst>
          </p:cNvPr>
          <p:cNvSpPr txBox="1"/>
          <p:nvPr/>
        </p:nvSpPr>
        <p:spPr>
          <a:xfrm>
            <a:off x="162124" y="1010705"/>
            <a:ext cx="103756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Consolas" panose="020B0609020204030204" pitchFamily="49" charset="0"/>
              </a:rPr>
              <a:t>In this project we propose to:</a:t>
            </a: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Self-supervised learning (no labels needed)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  <a:latin typeface="Consolas" panose="020B0609020204030204" pitchFamily="49" charset="0"/>
              </a:rPr>
              <a:t>Build the first cross-modal representation between ECG and MCG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  <a:latin typeface="Consolas" panose="020B0609020204030204" pitchFamily="49" charset="0"/>
              </a:rPr>
              <a:t>Overcome MCG data scarcity using contrastive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  <a:latin typeface="Consolas" panose="020B0609020204030204" pitchFamily="49" charset="0"/>
              </a:rPr>
              <a:t>Explore a new direction for cardiac AI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  <a:latin typeface="Consolas" panose="020B0609020204030204" pitchFamily="49" charset="0"/>
              </a:rPr>
              <a:t>Enable practical future applications like virtual MCG, enhanced diagnosis, and multimodal fusion</a:t>
            </a:r>
          </a:p>
          <a:p>
            <a:endParaRPr lang="en-US" sz="1400" b="1" dirty="0">
              <a:effectLst/>
              <a:latin typeface="Consolas" panose="020B0609020204030204" pitchFamily="49" charset="0"/>
            </a:endParaRPr>
          </a:p>
          <a:p>
            <a:r>
              <a:rPr lang="en-US" sz="1600" b="1" dirty="0">
                <a:effectLst/>
                <a:latin typeface="Consolas" panose="020B0609020204030204" pitchFamily="49" charset="0"/>
              </a:rPr>
              <a:t>Status:</a:t>
            </a:r>
          </a:p>
          <a:p>
            <a:endParaRPr lang="en-US" sz="1600" b="1" dirty="0"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onsolas" panose="020B0609020204030204" pitchFamily="49" charset="0"/>
              </a:rPr>
              <a:t>Dataset (ready)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Preprocessing complete (initially done)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Model design complete </a:t>
            </a:r>
            <a:r>
              <a:rPr lang="en-US" sz="1400">
                <a:latin typeface="Consolas" panose="020B0609020204030204" pitchFamily="49" charset="0"/>
              </a:rPr>
              <a:t>( 0n </a:t>
            </a:r>
            <a:r>
              <a:rPr lang="en-US" sz="1400" dirty="0">
                <a:latin typeface="Consolas" panose="020B0609020204030204" pitchFamily="49" charset="0"/>
              </a:rPr>
              <a:t>progress</a:t>
            </a:r>
            <a:r>
              <a:rPr lang="en-US" sz="1400">
                <a:latin typeface="Consolas" panose="020B0609020204030204" pitchFamily="49" charset="0"/>
              </a:rPr>
              <a:t>: experimented </a:t>
            </a:r>
            <a:r>
              <a:rPr lang="en-US" sz="1400" dirty="0">
                <a:latin typeface="Consolas" panose="020B0609020204030204" pitchFamily="49" charset="0"/>
              </a:rPr>
              <a:t>with 1d CNN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Training  (Next Step)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solas" panose="020B0609020204030204" pitchFamily="49" charset="0"/>
              </a:rPr>
              <a:t>Evaluation (Next Step)</a:t>
            </a:r>
          </a:p>
          <a:p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1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182776" y="3226170"/>
            <a:ext cx="8327848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000" b="1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4971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26229</TotalTime>
  <Words>854</Words>
  <Application>Microsoft Office PowerPoint</Application>
  <PresentationFormat>Custom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Caladea</vt:lpstr>
      <vt:lpstr>HY견고딕</vt:lpstr>
      <vt:lpstr>HY중고딕</vt:lpstr>
      <vt:lpstr>맑은 고딕</vt:lpstr>
      <vt:lpstr>Arial</vt:lpstr>
      <vt:lpstr>Consolas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347</cp:revision>
  <cp:lastPrinted>2012-01-03T07:03:32Z</cp:lastPrinted>
  <dcterms:created xsi:type="dcterms:W3CDTF">2011-12-29T06:45:05Z</dcterms:created>
  <dcterms:modified xsi:type="dcterms:W3CDTF">2025-12-01T17:09:42Z</dcterms:modified>
</cp:coreProperties>
</file>